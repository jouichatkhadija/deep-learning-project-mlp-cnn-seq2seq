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3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2E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DB-4A42-BF49-16AD56AEAAB2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DB-4A42-BF49-16AD56AEAA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MLP
(Breast Cancer)</c:v>
                </c:pt>
                <c:pt idx="1">
                  <c:v>CNN
(MNIST)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98.84</c:v>
                </c:pt>
                <c:pt idx="1">
                  <c:v>99.43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1DB-4A42-BF49-16AD56AEAA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79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garde — présenter rapidement l'équipe et le contexte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pourquoi chaque architecture répond à un besoin spécifique lié à la structure des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plan en 30 secondes — montrer la cohérence globale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l'initialisation Xavier retenue après comparaison des 4 stratégies. Architecture en entonnoir : 30→128→64→32→2.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Mettre en avant le F1=0.98 sur la classe maligne — critique en médecine. Expliquer pourquoi le rappel est prioritaire sur la précision.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Xavier contrôle la variance des activations à travers les couches — évite l'explosion ou l'évanescence du gradient.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implémentations manuelles valident la compréhension mathématique des opérations. Insister sur la hiérarchie des représentations.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gain +2.48 pts s'explique par l'exploitation de la structure spatiale. Montrer comment chaque filtre spécialise sa détection.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variations sont modérées sur MNIST (dataset simple). Sur des datasets plus complexes, ces choix seraient plus déterminants.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mécanisme d'attention : à chaque pas de décodage, le modèle 'regarde' tous les mots source avec des poids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 choisi pour son bon compromis. Beam Search n'améliore pas ici car le corpus est petit — sur un grand corpus, il ferait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GRU converge plus vite que le LSTM tout en conservant une bonne mémoire longue grâce à ses 2 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clé : l'adéquation architecture-données est le message principal. Pas de silver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l'adéquation architecture-données. Ouvrir sur les Transformers comme suite naturelle.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6606"/>
                    </a14:imgEffect>
                    <a14:imgEffect>
                      <a14:brightnessContrast bright="24000" contrast="2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652" y="201168"/>
            <a:ext cx="2370668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50066" y="274320"/>
            <a:ext cx="6219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EMSI — École Marocaine des Sciences de l'Ingénieur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: Deep Learning  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29844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Conception, Implémentation et Analyse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Modèles de Deep Learning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0" y="2788920"/>
            <a:ext cx="274320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2788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 ·  CNN  ·  Seq2Seq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6032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Présentée par 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0" y="3364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JOUICHAT Khadija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0" y="3639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Encadrée par 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0" y="3639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Mme. HIDILA Zineb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6032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Filière 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97680" y="3913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Ingénierie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d’Intelligence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Artificielle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Data (IIAD)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2560320" y="4187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97680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–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ces trois architectures ?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97280"/>
            <a:ext cx="2651760" cy="18288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2344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74320" y="23408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tabulaires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(features structurées)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00400" y="1097280"/>
            <a:ext cx="2651760" cy="182880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23444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0040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200400" y="23408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&amp; structures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spatiales 2D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234440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2648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126480" y="234086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Séquences &amp; traduction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automatique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274320" y="3090672"/>
            <a:ext cx="8595360" cy="7132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Text 13"/>
          <p:cNvSpPr/>
          <p:nvPr/>
        </p:nvSpPr>
        <p:spPr>
          <a:xfrm>
            <a:off x="457200" y="309067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</a:t>
            </a: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l'architecture à la nature des données — PyTorch comme framework principal.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274320" y="3913632"/>
            <a:ext cx="2651760" cy="8686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274320" y="3959352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274320" y="439140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00400" y="3913632"/>
            <a:ext cx="2651760" cy="86868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3200400" y="3959352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3200400" y="439140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(avg)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26480" y="3913632"/>
            <a:ext cx="2651760" cy="8686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126480" y="3959352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6126480" y="439140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réels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15568"/>
            <a:ext cx="41605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8720" y="1225296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Objectifs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304288"/>
            <a:ext cx="41605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88720" y="2414016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I — MLP (Données tabulaires)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3493008"/>
            <a:ext cx="41605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188720" y="3602736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II — CNN (Images MNIST)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1115568"/>
            <a:ext cx="41605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92040" y="1280160"/>
            <a:ext cx="64008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623560" y="1225296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III — Seq2Seq (Traduction EN→DE)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54880" y="2304288"/>
            <a:ext cx="41605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92040" y="2468880"/>
            <a:ext cx="64008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623560" y="2414016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Discussion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493008"/>
            <a:ext cx="416052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92040" y="3657600"/>
            <a:ext cx="64008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4"/>
          <p:cNvSpPr/>
          <p:nvPr/>
        </p:nvSpPr>
        <p:spPr>
          <a:xfrm>
            <a:off x="48920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623560" y="3602736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I — MLP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Wisconsin · Classification binaire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78992"/>
            <a:ext cx="1645920" cy="2926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3474720" cy="15544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Caractéristique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Échantillons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numériques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(malin / bénin)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Déséquilibre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37 % / 63 %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023360" y="1078992"/>
            <a:ext cx="16459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6"/>
          <p:cNvSpPr/>
          <p:nvPr/>
        </p:nvSpPr>
        <p:spPr>
          <a:xfrm>
            <a:off x="402336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023360" y="1444752"/>
            <a:ext cx="749808" cy="5943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8"/>
          <p:cNvSpPr/>
          <p:nvPr/>
        </p:nvSpPr>
        <p:spPr>
          <a:xfrm>
            <a:off x="4023360" y="1444752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023360" y="20756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773168" y="1741932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83480" y="1444752"/>
            <a:ext cx="749808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4983480" y="1444752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983480" y="20756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Cachée 1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733288" y="1741932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43600" y="1444752"/>
            <a:ext cx="749808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0" y="1444752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943600" y="20756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Cachée 2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693408" y="1741932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903720" y="1444752"/>
            <a:ext cx="749808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0"/>
          <p:cNvSpPr/>
          <p:nvPr/>
        </p:nvSpPr>
        <p:spPr>
          <a:xfrm>
            <a:off x="6903720" y="1444752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903720" y="20756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Cachée 3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7653528" y="1741932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0" y="1444752"/>
            <a:ext cx="749808" cy="59436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28" name="Text 24"/>
          <p:cNvSpPr/>
          <p:nvPr/>
        </p:nvSpPr>
        <p:spPr>
          <a:xfrm>
            <a:off x="7863840" y="1444752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7863840" y="20756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023360" y="2487168"/>
            <a:ext cx="182880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7"/>
          <p:cNvSpPr/>
          <p:nvPr/>
        </p:nvSpPr>
        <p:spPr>
          <a:xfrm>
            <a:off x="402336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 : 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l'entraînement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023360" y="2834640"/>
            <a:ext cx="182880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Text 29"/>
          <p:cNvSpPr/>
          <p:nvPr/>
        </p:nvSpPr>
        <p:spPr>
          <a:xfrm>
            <a:off x="40233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: 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non-linéaire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023360" y="3182112"/>
            <a:ext cx="182880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1"/>
          <p:cNvSpPr/>
          <p:nvPr/>
        </p:nvSpPr>
        <p:spPr>
          <a:xfrm>
            <a:off x="402336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0.3 : 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 le surapprentissage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989320" y="2487168"/>
            <a:ext cx="182880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Text 33"/>
          <p:cNvSpPr/>
          <p:nvPr/>
        </p:nvSpPr>
        <p:spPr>
          <a:xfrm>
            <a:off x="598932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lr=0.001 : 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Optimiseur adaptatif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989320" y="2834640"/>
            <a:ext cx="182880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5"/>
          <p:cNvSpPr/>
          <p:nvPr/>
        </p:nvSpPr>
        <p:spPr>
          <a:xfrm>
            <a:off x="59893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Init. : 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Initialisation retenue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023360" y="3913632"/>
            <a:ext cx="4754880" cy="56692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1" name="Text 37"/>
          <p:cNvSpPr/>
          <p:nvPr/>
        </p:nvSpPr>
        <p:spPr>
          <a:xfrm>
            <a:off x="4023360" y="39136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totaux : 14 818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4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I — MLP : Résultats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Entraînement 100 époques · Adam lr=0.001 · ReduceLROnPlateau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85" r="-185"/>
          <a:stretch/>
        </p:blipFill>
        <p:spPr>
          <a:xfrm>
            <a:off x="274320" y="2621515"/>
            <a:ext cx="3840480" cy="24745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Shape 3"/>
          <p:cNvSpPr/>
          <p:nvPr/>
        </p:nvSpPr>
        <p:spPr>
          <a:xfrm>
            <a:off x="4343400" y="1051560"/>
            <a:ext cx="164592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4"/>
          <p:cNvSpPr/>
          <p:nvPr/>
        </p:nvSpPr>
        <p:spPr>
          <a:xfrm>
            <a:off x="4343400" y="1051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(Test)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417320"/>
          <a:ext cx="457200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Métrique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Bénin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Précision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Rappel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343400" y="2944368"/>
            <a:ext cx="4572000" cy="91440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6"/>
          <p:cNvSpPr/>
          <p:nvPr/>
        </p:nvSpPr>
        <p:spPr>
          <a:xfrm>
            <a:off x="4343400" y="2990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98.84%</a:t>
            </a:r>
            <a:endParaRPr lang="en-US" sz="2800" dirty="0"/>
          </a:p>
        </p:txBody>
      </p:sp>
      <p:sp>
        <p:nvSpPr>
          <p:cNvPr id="13" name="Text 7"/>
          <p:cNvSpPr/>
          <p:nvPr/>
        </p:nvSpPr>
        <p:spPr>
          <a:xfrm>
            <a:off x="434340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globale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343400" y="3977640"/>
            <a:ext cx="4572000" cy="7498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9"/>
          <p:cNvSpPr/>
          <p:nvPr/>
        </p:nvSpPr>
        <p:spPr>
          <a:xfrm>
            <a:off x="4480560" y="397764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1 échantillon malin mal classé (faux négatif).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 + Dropout + Xavier = combinaison gagnante.</a:t>
            </a:r>
            <a:endParaRPr lang="en-US" sz="11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FCB08D30-BD82-470C-B8D3-C278FEE6A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5" r="-25"/>
          <a:stretch/>
        </p:blipFill>
        <p:spPr>
          <a:xfrm>
            <a:off x="274320" y="978408"/>
            <a:ext cx="3840480" cy="15819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Initialisation des poids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Gaussienne · Constante · Xavier · Kaiming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67328"/>
          <a:ext cx="8595360" cy="1264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Stratégie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 pour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Résultat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Gaussienne N(0,0.01)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Très faible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Prototypage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Convergence lente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Constante (0.1)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Symétrie brisée, sous-optimal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Xavier (Glorot)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Adaptée (2/(n_in+n_out))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Tanh/Sigmoid/ReLU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Retenue — meilleure convergence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Kaiming (He)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Adaptée (2/n_in)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Légèrement moins performant ici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48DC1E6F-6575-41C5-96A7-CBC3000D9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952274"/>
            <a:ext cx="6812631" cy="28150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II — CNN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· Classification de chiffres manuscrits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090" b="-1090"/>
          <a:stretch/>
        </p:blipFill>
        <p:spPr>
          <a:xfrm>
            <a:off x="274320" y="1078992"/>
            <a:ext cx="3931920" cy="14173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274320" y="1078992"/>
            <a:ext cx="1645920" cy="2926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MNIST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78608"/>
          <a:ext cx="3931920" cy="14173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 train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 test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28×28 px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(0–9)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434840" y="1078992"/>
            <a:ext cx="16459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6"/>
          <p:cNvSpPr/>
          <p:nvPr/>
        </p:nvSpPr>
        <p:spPr>
          <a:xfrm>
            <a:off x="443484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CNN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434840" y="1463040"/>
            <a:ext cx="100584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8"/>
          <p:cNvSpPr/>
          <p:nvPr/>
        </p:nvSpPr>
        <p:spPr>
          <a:xfrm>
            <a:off x="4434840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filtres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440680" y="192024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41848" y="1463040"/>
            <a:ext cx="10058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1"/>
          <p:cNvSpPr/>
          <p:nvPr/>
        </p:nvSpPr>
        <p:spPr>
          <a:xfrm>
            <a:off x="5641848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filtres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647688" y="192024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48856" y="1463040"/>
            <a:ext cx="1005840" cy="9144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9" name="Text 14"/>
          <p:cNvSpPr/>
          <p:nvPr/>
        </p:nvSpPr>
        <p:spPr>
          <a:xfrm>
            <a:off x="6848856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filtres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854696" y="1920240"/>
            <a:ext cx="20116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55864" y="1463040"/>
            <a:ext cx="100584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7"/>
          <p:cNvSpPr/>
          <p:nvPr/>
        </p:nvSpPr>
        <p:spPr>
          <a:xfrm>
            <a:off x="8055864" y="1463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Head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256→128→10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434840" y="245059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3×3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BN+ReLU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 2×2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5641848" y="245059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3×3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BN+ReLU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 2×2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848856" y="245059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3×3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BN+ReLU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 2×2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8055864" y="245059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AvgPool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0.5</a:t>
            </a:r>
            <a:endParaRPr lang="en-US" sz="8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115383"/>
              </p:ext>
            </p:extLst>
          </p:nvPr>
        </p:nvGraphicFramePr>
        <p:xfrm>
          <a:off x="4434840" y="3182112"/>
          <a:ext cx="4343400" cy="16611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0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Implémentations manuelles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Résultat vs PyTorch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Corrélation croisée 2D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 max = 0.000000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Max-pooling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 max = 0.000000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Average-pooling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 max = 0.000000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4434840" y="4413504"/>
            <a:ext cx="4343400" cy="47548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29" name="Text 23"/>
          <p:cNvSpPr/>
          <p:nvPr/>
        </p:nvSpPr>
        <p:spPr>
          <a:xfrm>
            <a:off x="4434840" y="431596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totaux : 422 474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II — CNN : Résultats &amp; Feature Maps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époques · Accuracy test : 99.43 %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50" r="-250"/>
          <a:stretch/>
        </p:blipFill>
        <p:spPr>
          <a:xfrm>
            <a:off x="274320" y="1078992"/>
            <a:ext cx="2743200" cy="2423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12" r="-112"/>
          <a:stretch/>
        </p:blipFill>
        <p:spPr>
          <a:xfrm>
            <a:off x="3200400" y="1078992"/>
            <a:ext cx="3200400" cy="2423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Shape 3"/>
          <p:cNvSpPr/>
          <p:nvPr/>
        </p:nvSpPr>
        <p:spPr>
          <a:xfrm>
            <a:off x="6537960" y="1078992"/>
            <a:ext cx="164592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4"/>
          <p:cNvSpPr/>
          <p:nvPr/>
        </p:nvSpPr>
        <p:spPr>
          <a:xfrm>
            <a:off x="653796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Maps Conv1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25" r="-125"/>
          <a:stretch/>
        </p:blipFill>
        <p:spPr>
          <a:xfrm>
            <a:off x="6537960" y="1417320"/>
            <a:ext cx="2377440" cy="20116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57600"/>
          <a:ext cx="6035040" cy="1051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Modèle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baseline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couche, 128 neurones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96.95 %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blocs Conv + FC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99.43 %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Gain CNN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+2.48 pts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531092"/>
              </p:ext>
            </p:extLst>
          </p:nvPr>
        </p:nvGraphicFramePr>
        <p:xfrm>
          <a:off x="6400800" y="3591900"/>
          <a:ext cx="2743200" cy="1493520"/>
        </p:xfrm>
        <a:graphic>
          <a:graphicData uri="http://schemas.openxmlformats.org/drawingml/2006/table">
            <a:tbl>
              <a:tblPr/>
              <a:tblGrid>
                <a:gridCol w="150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8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Motif détecté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8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Bords simples, contours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Formes géométriques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Parties de chiffres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— Influence des hyperparamètres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· Stride · Pooling · Profondeur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96" r="-96"/>
          <a:stretch/>
        </p:blipFill>
        <p:spPr>
          <a:xfrm>
            <a:off x="274320" y="1078992"/>
            <a:ext cx="3931920" cy="21129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438306"/>
              </p:ext>
            </p:extLst>
          </p:nvPr>
        </p:nvGraphicFramePr>
        <p:xfrm>
          <a:off x="274320" y="3264408"/>
          <a:ext cx="4892040" cy="1844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vs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(pad=1, stride=1, MaxPool, 32/64/128)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7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Sans padding (pad=0)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Stride =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7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AvgPool à la place de MaxPool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7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Plus de filtres (64/128/256)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349240" y="1078992"/>
            <a:ext cx="89611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4"/>
          <p:cNvSpPr/>
          <p:nvPr/>
        </p:nvSpPr>
        <p:spPr>
          <a:xfrm>
            <a:off x="5349240" y="111556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49240" y="1554480"/>
            <a:ext cx="896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Préserve 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spatiales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6327648" y="1078992"/>
            <a:ext cx="896112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7"/>
          <p:cNvSpPr/>
          <p:nvPr/>
        </p:nvSpPr>
        <p:spPr>
          <a:xfrm>
            <a:off x="6327648" y="111556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327648" y="1554480"/>
            <a:ext cx="896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sous-échantillonnage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7306056" y="1078992"/>
            <a:ext cx="896112" cy="13716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5" name="Text 10"/>
          <p:cNvSpPr/>
          <p:nvPr/>
        </p:nvSpPr>
        <p:spPr>
          <a:xfrm>
            <a:off x="7306056" y="111556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306056" y="1554480"/>
            <a:ext cx="896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Robustesse aux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8284464" y="1078992"/>
            <a:ext cx="896112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3"/>
          <p:cNvSpPr/>
          <p:nvPr/>
        </p:nvSpPr>
        <p:spPr>
          <a:xfrm>
            <a:off x="8284464" y="111556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Profondeur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84464" y="1554480"/>
            <a:ext cx="896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Richesse 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représentations</a:t>
            </a:r>
            <a:endParaRPr lang="en-US" sz="9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546643"/>
              </p:ext>
            </p:extLst>
          </p:nvPr>
        </p:nvGraphicFramePr>
        <p:xfrm>
          <a:off x="5349240" y="2606040"/>
          <a:ext cx="3794761" cy="1386840"/>
        </p:xfrm>
        <a:graphic>
          <a:graphicData uri="http://schemas.openxmlformats.org/drawingml/2006/table">
            <a:tbl>
              <a:tblPr/>
              <a:tblGrid>
                <a:gridCol w="1774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Critère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optimisé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96.95 %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99.43 %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Paramètres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422 474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Avantage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 spatiale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III — Seq2Seq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Traduction automatique EN → DE avec mécanisme d'attention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78992"/>
            <a:ext cx="16459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028506"/>
              </p:ext>
            </p:extLst>
          </p:nvPr>
        </p:nvGraphicFramePr>
        <p:xfrm>
          <a:off x="274320" y="1421892"/>
          <a:ext cx="3200400" cy="1417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Caractéristique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Paires de phrases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Vocabulaire 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 mots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Vocabulaire 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 mots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Longueur max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tokens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749040" y="1078992"/>
            <a:ext cx="16459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6"/>
          <p:cNvSpPr/>
          <p:nvPr/>
        </p:nvSpPr>
        <p:spPr>
          <a:xfrm>
            <a:off x="374904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Shape 7"/>
          <p:cNvSpPr/>
          <p:nvPr/>
        </p:nvSpPr>
        <p:spPr>
          <a:xfrm>
            <a:off x="3749040" y="1444752"/>
            <a:ext cx="1645920" cy="10058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2" name="Text 8"/>
          <p:cNvSpPr/>
          <p:nvPr/>
        </p:nvSpPr>
        <p:spPr>
          <a:xfrm>
            <a:off x="3749040" y="144475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Encodeur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 bidir.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couches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394960" y="1947672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0720" y="1444752"/>
            <a:ext cx="164592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1"/>
          <p:cNvSpPr/>
          <p:nvPr/>
        </p:nvSpPr>
        <p:spPr>
          <a:xfrm>
            <a:off x="5760720" y="144475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Bahdanau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softmax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406640" y="1947672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0" y="1444752"/>
            <a:ext cx="164592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7498080" y="144475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Décodeur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 + ctxt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couches</a:t>
            </a:r>
            <a:endParaRPr lang="en-US" sz="105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6265785E-FE34-4891-A474-7C058D6EB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12364"/>
            <a:ext cx="8503920" cy="22311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 — Résultats &amp; Stratégies de décodage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époques · Teacher forcing 0.5 · Paramètres : 854 315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364409"/>
              </p:ext>
            </p:extLst>
          </p:nvPr>
        </p:nvGraphicFramePr>
        <p:xfrm>
          <a:off x="274320" y="2661206"/>
          <a:ext cx="3840480" cy="1249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Stratégie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Search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le plus probable à chaque pas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 (15/20)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Beam Search k=3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 3 hypothèses en parallèle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 (15/20)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343400" y="1078992"/>
            <a:ext cx="16459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4"/>
          <p:cNvSpPr/>
          <p:nvPr/>
        </p:nvSpPr>
        <p:spPr>
          <a:xfrm>
            <a:off x="434340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Exemples de traduction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444752"/>
          <a:ext cx="4572000" cy="1554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(entrée)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cible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Prédiction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morning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guten morgen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guten morgen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night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gute nacht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gute nacht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are you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wie geht es dir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wie geht es dir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am fine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geht mir gut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geht mir gut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thank you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danke schön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danke schön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4343400" y="3063240"/>
            <a:ext cx="16459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6"/>
          <p:cNvSpPr/>
          <p:nvPr/>
        </p:nvSpPr>
        <p:spPr>
          <a:xfrm>
            <a:off x="4343400" y="3063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vs LSTM vs GRU</a:t>
            </a:r>
            <a:endParaRPr lang="en-US" sz="10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3429000"/>
          <a:ext cx="4572000" cy="11811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Modèle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Mémoire longue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RNN simple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portes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 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portes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7"/>
          <p:cNvSpPr/>
          <p:nvPr/>
        </p:nvSpPr>
        <p:spPr>
          <a:xfrm>
            <a:off x="274320" y="3974286"/>
            <a:ext cx="3840480" cy="65836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8"/>
          <p:cNvSpPr/>
          <p:nvPr/>
        </p:nvSpPr>
        <p:spPr>
          <a:xfrm>
            <a:off x="365760" y="397428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 = bon compromis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Mémoire longue + Convergence rapide + Moins de paramètres que LSTM</a:t>
            </a:r>
            <a:endParaRPr lang="en-US" sz="105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B5C7378C-8F8F-4B4F-B194-76E853A058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9125" r="-29125"/>
          <a:stretch/>
        </p:blipFill>
        <p:spPr>
          <a:xfrm>
            <a:off x="-1075335" y="999209"/>
            <a:ext cx="6611349" cy="15888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RNN · LSTM · GRU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de perte et résultats de traduction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557486"/>
              </p:ext>
            </p:extLst>
          </p:nvPr>
        </p:nvGraphicFramePr>
        <p:xfrm>
          <a:off x="274320" y="4056888"/>
          <a:ext cx="8595360" cy="10134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Critère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État interne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(h)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(h + cellule 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(h)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Aucune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(entrée, oubli, sortie)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(reset, update)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Vitesse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Rapide ⚡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Lent 🐢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Intermédiaire ⚖️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D31F81A9-6089-4AB1-A18D-4730C0809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" y="1097280"/>
            <a:ext cx="8383219" cy="28864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synthétiques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des trois architectures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51560"/>
            <a:ext cx="2697480" cy="10058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097280"/>
            <a:ext cx="2697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98.84%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74320" y="16047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— Breast Cancer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2697480" cy="1005840"/>
          </a:xfrm>
          <a:prstGeom prst="rect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097280"/>
            <a:ext cx="2697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99.43%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200400" y="16047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— MNIST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1051560"/>
            <a:ext cx="2697480" cy="10058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1097280"/>
            <a:ext cx="2697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126480" y="16047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 — EN→DE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12848"/>
          <a:ext cx="8595360" cy="1234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Tâche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Breast Cancer (569 éch.)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Classification binaire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98.84 %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14 818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MNIST (70 000 img.)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Classification 10 classes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99.43 %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422 474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E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Seq2Seq GRU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Corpus EN→DE (80 paires)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Traduction automatique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 (15/20)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854 315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Chart 0"/>
          <p:cNvGraphicFramePr/>
          <p:nvPr/>
        </p:nvGraphicFramePr>
        <p:xfrm>
          <a:off x="274320" y="3584448"/>
          <a:ext cx="5029200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2"/>
          <p:cNvSpPr/>
          <p:nvPr/>
        </p:nvSpPr>
        <p:spPr>
          <a:xfrm>
            <a:off x="5577840" y="3584448"/>
            <a:ext cx="3291840" cy="138988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0" y="3584448"/>
            <a:ext cx="3108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architecture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 optimale pour 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ses données.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Perspectives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73152"/>
            <a:ext cx="132588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78992"/>
            <a:ext cx="1645920" cy="2926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réalisé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463040"/>
            <a:ext cx="228600" cy="228600"/>
          </a:xfrm>
          <a:prstGeom prst="line">
            <a:avLst/>
          </a:prstGeom>
          <a:solidFill>
            <a:srgbClr val="1A2E5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et préparation de 3 datasets réels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965960"/>
            <a:ext cx="228600" cy="228600"/>
          </a:xfrm>
          <a:prstGeom prst="line">
            <a:avLst/>
          </a:prstGeom>
          <a:solidFill>
            <a:srgbClr val="1A2E5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Implémentation de MLP, CNN, Seq2Seq avec PyTorch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468880"/>
            <a:ext cx="228600" cy="228600"/>
          </a:xfrm>
          <a:prstGeom prst="line">
            <a:avLst/>
          </a:prstGeom>
          <a:solidFill>
            <a:srgbClr val="1A2E5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Entraînement avec BatchNorm, Dropout, Adam, ReduceLROnPlateau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971800"/>
            <a:ext cx="228600" cy="228600"/>
          </a:xfrm>
          <a:prstGeom prst="line">
            <a:avLst/>
          </a:prstGeom>
          <a:solidFill>
            <a:srgbClr val="1A2E5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rigoureuse : accuracy, F1, matrices de confusion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474720"/>
            <a:ext cx="228600" cy="228600"/>
          </a:xfrm>
          <a:prstGeom prst="line">
            <a:avLst/>
          </a:prstGeom>
          <a:solidFill>
            <a:srgbClr val="1A2E5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des cartes de caractéristiques (CNN)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977640"/>
            <a:ext cx="228600" cy="228600"/>
          </a:xfrm>
          <a:prstGeom prst="line">
            <a:avLst/>
          </a:prstGeom>
          <a:solidFill>
            <a:srgbClr val="1A2E5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RNN / LSTM / GRU / Greedy / Beam Search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1078992"/>
            <a:ext cx="164592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1078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14630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83480" y="1645920"/>
            <a:ext cx="594360" cy="594360"/>
          </a:xfrm>
          <a:prstGeom prst="line">
            <a:avLst/>
          </a:prstGeom>
          <a:solidFill>
            <a:srgbClr val="7C3AED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682496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69280" y="15544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669280" y="1920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Attention-only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traduction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46320" y="26517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983480" y="2834640"/>
            <a:ext cx="594360" cy="594360"/>
          </a:xfrm>
          <a:prstGeom prst="line">
            <a:avLst/>
          </a:prstGeom>
          <a:solidFill>
            <a:srgbClr val="2563EB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871216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669280" y="27432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66928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ResNet, EfficientNet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vision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846320" y="384048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983480" y="4023360"/>
            <a:ext cx="594360" cy="594360"/>
          </a:xfrm>
          <a:prstGeom prst="line">
            <a:avLst/>
          </a:prstGeom>
          <a:solidFill>
            <a:srgbClr val="0891B2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4059936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669280" y="39319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plus larges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669280" y="4297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la scalabilité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modèles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5A">
            <a:alpha val="2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74320"/>
            <a:ext cx="164592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143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2743200" y="2377440"/>
            <a:ext cx="3657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1371600" y="3337560"/>
            <a:ext cx="2011680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98.84%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0" y="3337560"/>
            <a:ext cx="201168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99.43%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3337560"/>
            <a:ext cx="201168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436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JOUICHAT Khadija  ·  Mme. HIDILA Zineb  ·  IIAD 2025–2026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1366</Words>
  <Application>Microsoft Office PowerPoint</Application>
  <PresentationFormat>Affichage à l'écran (16:9)</PresentationFormat>
  <Paragraphs>407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— MLP, CNN, Seq2Seq</dc:title>
  <dc:subject>PptxGenJS Presentation</dc:subject>
  <dc:creator>JOUICHAT Khadija</dc:creator>
  <cp:lastModifiedBy>Khadija Jouichat</cp:lastModifiedBy>
  <cp:revision>11</cp:revision>
  <dcterms:created xsi:type="dcterms:W3CDTF">2026-06-22T21:14:29Z</dcterms:created>
  <dcterms:modified xsi:type="dcterms:W3CDTF">2026-06-23T23:35:22Z</dcterms:modified>
</cp:coreProperties>
</file>