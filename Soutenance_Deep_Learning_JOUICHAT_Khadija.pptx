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03" autoAdjust="0"/>
    <p:restoredTop sz="94610"/>
  </p:normalViewPr>
  <p:slideViewPr>
    <p:cSldViewPr snapToGrid="0" snapToObjects="1">
      <p:cViewPr>
        <p:scale>
          <a:sx n="75" d="100"/>
          <a:sy n="75" d="100"/>
        </p:scale>
        <p:origin x="88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A2E5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1DB-4A42-BF49-16AD56AEAAB2}"/>
              </c:ext>
            </c:extLst>
          </c:dPt>
          <c:dPt>
            <c:idx val="1"/>
            <c:invertIfNegative val="0"/>
            <c:bubble3D val="0"/>
            <c:spPr>
              <a:solidFill>
                <a:srgbClr val="2563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1DB-4A42-BF49-16AD56AEAAB2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MLP
(Breast Cancer)</c:v>
                </c:pt>
                <c:pt idx="1">
                  <c:v>CNN
(MNIST)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98.84</c:v>
                </c:pt>
                <c:pt idx="1">
                  <c:v>99.43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1DB-4A42-BF49-16AD56AEAAB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9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fr-F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0792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garde — présenter rapidement l'équipe et le contexte du projet.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le plan en 30 secondes — montrer la cohérence globale du projet.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pourquoi chaque architecture répond à un besoin spécifique lié à la structure des données.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l'initialisation Xavier retenue après comparaison des 4 stratégies. Architecture en entonnoir : 30→128→64→32→2.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Mettre en avant le F1=0.98 sur la classe maligne — critique en médecine. Expliquer pourquoi le rappel est prioritaire sur la précision.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Xavier contrôle la variance des activations à travers les couches — évite l'explosion ou l'évanescence du gradient.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implémentations manuelles valident la compréhension mathématique des opérations. Insister sur la hiérarchie des représentations.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gain +2.48 pts s'explique par l'exploitation de la structure spatiale. Montrer comment chaque filtre spécialise sa détection.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variations sont modérées sur MNIST (dataset simple). Sur des datasets plus complexes, ces choix seraient plus déterminants.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le mécanisme d'attention : à chaque pas de décodage, le modèle 'regarde' tous les mots source avec des poids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GRU choisi pour son bon compromis. Beam Search n'améliore pas ici car le corpus est petit — sur un grand corpus, il ferait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GRU converge plus vite que le LSTM tout en conservant une bonne mémoire longue grâce à ses 2 portes.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Synthèse clé : l'adéquation architecture-données est le message principal. Pas de silver bullet.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Conclure sur l'adéquation architecture-données. Ouvrir sur les Transformers comme suite naturelle.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00000"/>
                    </a14:imgEffect>
                    <a14:imgEffect>
                      <a14:colorTemperature colorTemp="6606"/>
                    </a14:imgEffect>
                    <a14:imgEffect>
                      <a14:brightnessContrast bright="24000" contrast="24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652" y="201168"/>
            <a:ext cx="2370668" cy="8046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650066" y="274320"/>
            <a:ext cx="6219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EMSI — École Marocaine des Sciences de l'Ingénieur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: Deep Learning  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411480" y="1170432"/>
            <a:ext cx="832104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1298448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Conception, Implémentation et Analyse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Modèles de Deep Learning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3200400" y="2788920"/>
            <a:ext cx="274320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4"/>
          <p:cNvSpPr/>
          <p:nvPr/>
        </p:nvSpPr>
        <p:spPr>
          <a:xfrm>
            <a:off x="3200400" y="27889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 ·  CNN  ·  Seq2Seq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560320" y="33649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Présentée par :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97680" y="33649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JOUICHAT Khadija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560320" y="36393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Encadrée par 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0" y="36393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Mme. HIDILA Zineb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560320" y="39136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Filière 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297680" y="39136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Ingénierie</a:t>
            </a: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d’Intelligence</a:t>
            </a: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Artificielle</a:t>
            </a: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&amp; Data (IIAD)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4" name="Text 11"/>
          <p:cNvSpPr/>
          <p:nvPr/>
        </p:nvSpPr>
        <p:spPr>
          <a:xfrm>
            <a:off x="2560320" y="4187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Année 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297680" y="41879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– 2026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la Présentation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73152"/>
            <a:ext cx="132588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1115568"/>
            <a:ext cx="4160520" cy="9875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1280160"/>
            <a:ext cx="640080" cy="64008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80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188720" y="1225296"/>
            <a:ext cx="3154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&amp; Objectifs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0040" y="2304288"/>
            <a:ext cx="4160520" cy="9875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468880"/>
            <a:ext cx="640080" cy="6400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188720" y="2414016"/>
            <a:ext cx="3154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I — MLP (Données tabulaires)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20040" y="3493008"/>
            <a:ext cx="4160520" cy="9875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3657600"/>
            <a:ext cx="640080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1188720" y="3602736"/>
            <a:ext cx="3154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II — CNN (Images MNIST)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754880" y="1115568"/>
            <a:ext cx="4160520" cy="9875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892040" y="1280160"/>
            <a:ext cx="640080" cy="640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6"/>
          <p:cNvSpPr/>
          <p:nvPr/>
        </p:nvSpPr>
        <p:spPr>
          <a:xfrm>
            <a:off x="4892040" y="1280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5623560" y="1225296"/>
            <a:ext cx="3154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III — Seq2Seq (Traduction EN→DE)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754880" y="2304288"/>
            <a:ext cx="4160520" cy="9875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892040" y="2468880"/>
            <a:ext cx="640080" cy="6400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3" name="Text 20"/>
          <p:cNvSpPr/>
          <p:nvPr/>
        </p:nvSpPr>
        <p:spPr>
          <a:xfrm>
            <a:off x="48920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5623560" y="2414016"/>
            <a:ext cx="3154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&amp; Discussion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754880" y="3493008"/>
            <a:ext cx="4160520" cy="9875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892040" y="3657600"/>
            <a:ext cx="640080" cy="6400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7" name="Text 24"/>
          <p:cNvSpPr/>
          <p:nvPr/>
        </p:nvSpPr>
        <p:spPr>
          <a:xfrm>
            <a:off x="489204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5623560" y="3602736"/>
            <a:ext cx="3154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&amp; Perspectives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ces trois architectures ?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73152"/>
            <a:ext cx="1325880" cy="548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1097280"/>
            <a:ext cx="2651760" cy="1828800"/>
          </a:xfrm>
          <a:prstGeom prst="rect">
            <a:avLst/>
          </a:prstGeom>
          <a:solidFill>
            <a:srgbClr val="1A2E5A"/>
          </a:solidFill>
          <a:ln/>
          <a:effectLst>
            <a:outerShdw blurRad="101600" dist="38100" dir="27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1234440"/>
            <a:ext cx="640080" cy="6400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7432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274320" y="234086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tabulaires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(features structurées)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3200400" y="1097280"/>
            <a:ext cx="2651760" cy="1828800"/>
          </a:xfrm>
          <a:prstGeom prst="rect">
            <a:avLst/>
          </a:prstGeom>
          <a:solidFill>
            <a:srgbClr val="2563EB"/>
          </a:solidFill>
          <a:ln/>
          <a:effectLst>
            <a:outerShdw blurRad="101600" dist="38100" dir="27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1234440"/>
            <a:ext cx="640080" cy="6400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20040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3200400" y="234086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 &amp; structures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spatiales 2D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6126480" y="1097280"/>
            <a:ext cx="2651760" cy="1828800"/>
          </a:xfrm>
          <a:prstGeom prst="rect">
            <a:avLst/>
          </a:prstGeom>
          <a:solidFill>
            <a:srgbClr val="7C3AED"/>
          </a:solidFill>
          <a:ln/>
          <a:effectLst>
            <a:outerShdw blurRad="101600" dist="38100" dir="27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0" y="1234440"/>
            <a:ext cx="640080" cy="6400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12648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Seq2Seq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6126480" y="234086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Séquences &amp; traduction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automatique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274320" y="3090672"/>
            <a:ext cx="8595360" cy="713232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9" name="Text 13"/>
          <p:cNvSpPr/>
          <p:nvPr/>
        </p:nvSpPr>
        <p:spPr>
          <a:xfrm>
            <a:off x="457200" y="3090672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Objectif : </a:t>
            </a: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l'architecture à la nature des données — PyTorch comme framework principal.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274320" y="3913632"/>
            <a:ext cx="2651760" cy="868680"/>
          </a:xfrm>
          <a:prstGeom prst="rect">
            <a:avLst/>
          </a:prstGeom>
          <a:solidFill>
            <a:srgbClr val="1A2E5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274320" y="3959352"/>
            <a:ext cx="265176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16"/>
          <p:cNvSpPr/>
          <p:nvPr/>
        </p:nvSpPr>
        <p:spPr>
          <a:xfrm>
            <a:off x="274320" y="439140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Architectures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3200400" y="3913632"/>
            <a:ext cx="2651760" cy="868680"/>
          </a:xfrm>
          <a:prstGeom prst="rect">
            <a:avLst/>
          </a:prstGeom>
          <a:solidFill>
            <a:srgbClr val="2563EB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3200400" y="3959352"/>
            <a:ext cx="265176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</a:t>
            </a:r>
            <a:endParaRPr lang="en-US" sz="2800" dirty="0"/>
          </a:p>
        </p:txBody>
      </p:sp>
      <p:sp>
        <p:nvSpPr>
          <p:cNvPr id="25" name="Text 19"/>
          <p:cNvSpPr/>
          <p:nvPr/>
        </p:nvSpPr>
        <p:spPr>
          <a:xfrm>
            <a:off x="3200400" y="439140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Paramètres (avg)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126480" y="3913632"/>
            <a:ext cx="2651760" cy="868680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1"/>
          <p:cNvSpPr/>
          <p:nvPr/>
        </p:nvSpPr>
        <p:spPr>
          <a:xfrm>
            <a:off x="6126480" y="3959352"/>
            <a:ext cx="265176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28" name="Text 22"/>
          <p:cNvSpPr/>
          <p:nvPr/>
        </p:nvSpPr>
        <p:spPr>
          <a:xfrm>
            <a:off x="6126480" y="439140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Datasets réels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I — MLP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Breast Cancer Wisconsin · Classification binaire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73152"/>
            <a:ext cx="1325880" cy="548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" y="1078992"/>
            <a:ext cx="1645920" cy="292608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7" name="Text 4"/>
          <p:cNvSpPr/>
          <p:nvPr/>
        </p:nvSpPr>
        <p:spPr>
          <a:xfrm>
            <a:off x="320040" y="10789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44752"/>
          <a:ext cx="3474720" cy="155448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Caractéristique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Valeur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Échantillons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Features numériques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(malin / bénin)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Déséquilibre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37 % / 63 %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023360" y="1078992"/>
            <a:ext cx="1645920" cy="2926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6"/>
          <p:cNvSpPr/>
          <p:nvPr/>
        </p:nvSpPr>
        <p:spPr>
          <a:xfrm>
            <a:off x="4023360" y="10789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023360" y="1444752"/>
            <a:ext cx="749808" cy="59436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2" name="Text 8"/>
          <p:cNvSpPr/>
          <p:nvPr/>
        </p:nvSpPr>
        <p:spPr>
          <a:xfrm>
            <a:off x="4023360" y="1444752"/>
            <a:ext cx="749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023360" y="20756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Entrée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4773168" y="1741932"/>
            <a:ext cx="21031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983480" y="1444752"/>
            <a:ext cx="749808" cy="594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Text 12"/>
          <p:cNvSpPr/>
          <p:nvPr/>
        </p:nvSpPr>
        <p:spPr>
          <a:xfrm>
            <a:off x="4983480" y="1444752"/>
            <a:ext cx="749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4983480" y="20756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Cachée 1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5733288" y="1741932"/>
            <a:ext cx="21031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943600" y="1444752"/>
            <a:ext cx="749808" cy="594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0" name="Text 16"/>
          <p:cNvSpPr/>
          <p:nvPr/>
        </p:nvSpPr>
        <p:spPr>
          <a:xfrm>
            <a:off x="5943600" y="1444752"/>
            <a:ext cx="749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5943600" y="20756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Cachée 2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6693408" y="1741932"/>
            <a:ext cx="21031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903720" y="1444752"/>
            <a:ext cx="749808" cy="594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4" name="Text 20"/>
          <p:cNvSpPr/>
          <p:nvPr/>
        </p:nvSpPr>
        <p:spPr>
          <a:xfrm>
            <a:off x="6903720" y="1444752"/>
            <a:ext cx="749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800" dirty="0"/>
          </a:p>
        </p:txBody>
      </p:sp>
      <p:sp>
        <p:nvSpPr>
          <p:cNvPr id="25" name="Text 21"/>
          <p:cNvSpPr/>
          <p:nvPr/>
        </p:nvSpPr>
        <p:spPr>
          <a:xfrm>
            <a:off x="6903720" y="20756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Cachée 3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7653528" y="1741932"/>
            <a:ext cx="21031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863840" y="1444752"/>
            <a:ext cx="749808" cy="59436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28" name="Text 24"/>
          <p:cNvSpPr/>
          <p:nvPr/>
        </p:nvSpPr>
        <p:spPr>
          <a:xfrm>
            <a:off x="7863840" y="1444752"/>
            <a:ext cx="749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7863840" y="20756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4023360" y="2487168"/>
            <a:ext cx="182880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1" name="Text 27"/>
          <p:cNvSpPr/>
          <p:nvPr/>
        </p:nvSpPr>
        <p:spPr>
          <a:xfrm>
            <a:off x="4023360" y="24871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BatchNorm : </a:t>
            </a: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Stabilise l'entraînement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4023360" y="2834640"/>
            <a:ext cx="182880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3" name="Text 29"/>
          <p:cNvSpPr/>
          <p:nvPr/>
        </p:nvSpPr>
        <p:spPr>
          <a:xfrm>
            <a:off x="402336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 : </a:t>
            </a: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 non-linéaire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4023360" y="3182112"/>
            <a:ext cx="182880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5" name="Text 31"/>
          <p:cNvSpPr/>
          <p:nvPr/>
        </p:nvSpPr>
        <p:spPr>
          <a:xfrm>
            <a:off x="4023360" y="31821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Dropout 0.3 : </a:t>
            </a: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Évite le surapprentissage</a:t>
            </a:r>
            <a:endParaRPr lang="en-US" sz="950" dirty="0"/>
          </a:p>
        </p:txBody>
      </p:sp>
      <p:sp>
        <p:nvSpPr>
          <p:cNvPr id="36" name="Shape 32"/>
          <p:cNvSpPr/>
          <p:nvPr/>
        </p:nvSpPr>
        <p:spPr>
          <a:xfrm>
            <a:off x="5989320" y="2487168"/>
            <a:ext cx="182880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7" name="Text 33"/>
          <p:cNvSpPr/>
          <p:nvPr/>
        </p:nvSpPr>
        <p:spPr>
          <a:xfrm>
            <a:off x="5989320" y="24871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Adam lr=0.001 : </a:t>
            </a: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Optimiseur adaptatif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5989320" y="2834640"/>
            <a:ext cx="182880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9" name="Text 35"/>
          <p:cNvSpPr/>
          <p:nvPr/>
        </p:nvSpPr>
        <p:spPr>
          <a:xfrm>
            <a:off x="598932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Xavier Init. : </a:t>
            </a: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Initialisation retenue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4023360" y="3913632"/>
            <a:ext cx="4754880" cy="566928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41" name="Text 37"/>
          <p:cNvSpPr/>
          <p:nvPr/>
        </p:nvSpPr>
        <p:spPr>
          <a:xfrm>
            <a:off x="4023360" y="391363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Paramètres totaux : 14 818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I — MLP : Résultats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Entraînement 100 époques · Adam lr=0.001 · ReduceLROnPlateau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73152"/>
            <a:ext cx="1325880" cy="54864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l="-185" r="-185"/>
          <a:stretch/>
        </p:blipFill>
        <p:spPr>
          <a:xfrm>
            <a:off x="274320" y="1051559"/>
            <a:ext cx="3840480" cy="247450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rcRect l="-9231" r="-9231"/>
          <a:stretch/>
        </p:blipFill>
        <p:spPr>
          <a:xfrm>
            <a:off x="263301" y="3526064"/>
            <a:ext cx="3771407" cy="155000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8" name="Shape 3"/>
          <p:cNvSpPr/>
          <p:nvPr/>
        </p:nvSpPr>
        <p:spPr>
          <a:xfrm>
            <a:off x="4343400" y="1051560"/>
            <a:ext cx="1645920" cy="2926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9" name="Text 4"/>
          <p:cNvSpPr/>
          <p:nvPr/>
        </p:nvSpPr>
        <p:spPr>
          <a:xfrm>
            <a:off x="4343400" y="1051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Métriques (Test)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417320"/>
          <a:ext cx="4572000" cy="13716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Métrique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Bénin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Précision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Rappel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F1-score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4343400" y="2944368"/>
            <a:ext cx="4572000" cy="914400"/>
          </a:xfrm>
          <a:prstGeom prst="rect">
            <a:avLst/>
          </a:prstGeom>
          <a:solidFill>
            <a:srgbClr val="16A34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6"/>
          <p:cNvSpPr/>
          <p:nvPr/>
        </p:nvSpPr>
        <p:spPr>
          <a:xfrm>
            <a:off x="4343400" y="299008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98.84%</a:t>
            </a:r>
            <a:endParaRPr lang="en-US" sz="2800" dirty="0"/>
          </a:p>
        </p:txBody>
      </p:sp>
      <p:sp>
        <p:nvSpPr>
          <p:cNvPr id="13" name="Text 7"/>
          <p:cNvSpPr/>
          <p:nvPr/>
        </p:nvSpPr>
        <p:spPr>
          <a:xfrm>
            <a:off x="4343400" y="3447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globale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4343400" y="3977640"/>
            <a:ext cx="4572000" cy="7498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5" name="Text 9"/>
          <p:cNvSpPr/>
          <p:nvPr/>
        </p:nvSpPr>
        <p:spPr>
          <a:xfrm>
            <a:off x="4480560" y="3977640"/>
            <a:ext cx="4297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Seul 1 échantillon malin mal classé (faux négatif).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BatchNorm + Dropout + Xavier = combinaison gagnante.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Initialisation des poids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Gaussienne · Constante · Xavier · Kaiming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73152"/>
            <a:ext cx="1325880" cy="54864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l="-1813" r="-1813"/>
          <a:stretch/>
        </p:blipFill>
        <p:spPr>
          <a:xfrm>
            <a:off x="274320" y="1051560"/>
            <a:ext cx="8595360" cy="271576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767328"/>
          <a:ext cx="8595360" cy="12649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Stratégie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Adapté pour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Résultat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Gaussienne N(0,0.01)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Très faible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Prototypage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Convergence lente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Constante (0.1)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Nulle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Symétrie brisée, sous-optimal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Xavier (Glorot) 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Adaptée (2/(n_in+n_out))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Tanh/Sigmoid/ReLU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Retenue — meilleure convergence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Kaiming (He)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Adaptée (2/n_in)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Légèrement moins performant ici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II — CNN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MNIST · Classification de chiffres manuscrits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73152"/>
            <a:ext cx="1325880" cy="54864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t="-1090" b="-1090"/>
          <a:stretch/>
        </p:blipFill>
        <p:spPr>
          <a:xfrm>
            <a:off x="274320" y="1078992"/>
            <a:ext cx="3931920" cy="141732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7" name="Shape 3"/>
          <p:cNvSpPr/>
          <p:nvPr/>
        </p:nvSpPr>
        <p:spPr>
          <a:xfrm>
            <a:off x="274320" y="1078992"/>
            <a:ext cx="1645920" cy="292608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8" name="Text 4"/>
          <p:cNvSpPr/>
          <p:nvPr/>
        </p:nvSpPr>
        <p:spPr>
          <a:xfrm>
            <a:off x="274320" y="10789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MNIST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78608"/>
          <a:ext cx="3931920" cy="141732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Valeur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Images train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Images 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Taille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28×28 px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(0–9)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4434840" y="1078992"/>
            <a:ext cx="1645920" cy="2926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6"/>
          <p:cNvSpPr/>
          <p:nvPr/>
        </p:nvSpPr>
        <p:spPr>
          <a:xfrm>
            <a:off x="4434840" y="10789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CNN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4434840" y="1463040"/>
            <a:ext cx="1005840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8"/>
          <p:cNvSpPr/>
          <p:nvPr/>
        </p:nvSpPr>
        <p:spPr>
          <a:xfrm>
            <a:off x="4434840" y="146304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Conv1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filtres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5440680" y="1920240"/>
            <a:ext cx="201168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641848" y="1463040"/>
            <a:ext cx="1005840" cy="9144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Text 11"/>
          <p:cNvSpPr/>
          <p:nvPr/>
        </p:nvSpPr>
        <p:spPr>
          <a:xfrm>
            <a:off x="5641848" y="146304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Conv2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filtres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647688" y="1920240"/>
            <a:ext cx="201168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848856" y="1463040"/>
            <a:ext cx="1005840" cy="91440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19" name="Text 14"/>
          <p:cNvSpPr/>
          <p:nvPr/>
        </p:nvSpPr>
        <p:spPr>
          <a:xfrm>
            <a:off x="6848856" y="146304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filtres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7854696" y="1920240"/>
            <a:ext cx="201168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055864" y="1463040"/>
            <a:ext cx="1005840" cy="914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Text 17"/>
          <p:cNvSpPr/>
          <p:nvPr/>
        </p:nvSpPr>
        <p:spPr>
          <a:xfrm>
            <a:off x="8055864" y="146304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 Head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256→128→10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434840" y="2450592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3×3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BN+ReLU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MaxPool 2×2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5641848" y="2450592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3×3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BN+ReLU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MaxPool 2×2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6848856" y="2450592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3×3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BN+ReLU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MaxPool 2×2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8055864" y="2450592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AvgPool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Flatten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Dropout 0.5</a:t>
            </a:r>
            <a:endParaRPr lang="en-US" sz="85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4115383"/>
              </p:ext>
            </p:extLst>
          </p:nvPr>
        </p:nvGraphicFramePr>
        <p:xfrm>
          <a:off x="4434840" y="3182112"/>
          <a:ext cx="4343400" cy="166116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40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Implémentations manuelles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Résultat vs PyTorch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07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Corrélation croisée 2D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 max = 0.000000 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07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Max-pooling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 max = 0.000000 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107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Average-pooling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 max = 0.000000 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" name="Shape 22"/>
          <p:cNvSpPr/>
          <p:nvPr/>
        </p:nvSpPr>
        <p:spPr>
          <a:xfrm>
            <a:off x="4434840" y="4413504"/>
            <a:ext cx="4343400" cy="475488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29" name="Text 23"/>
          <p:cNvSpPr/>
          <p:nvPr/>
        </p:nvSpPr>
        <p:spPr>
          <a:xfrm>
            <a:off x="4434840" y="4315968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Paramètres totaux : 422 474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9" grpId="0" animBg="1"/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II — CNN : Résultats &amp; Feature Maps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époques · Accuracy test : 99.43 %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73152"/>
            <a:ext cx="1325880" cy="54864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l="-250" r="-250"/>
          <a:stretch/>
        </p:blipFill>
        <p:spPr>
          <a:xfrm>
            <a:off x="274320" y="1078992"/>
            <a:ext cx="2743200" cy="242316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rcRect l="-112" r="-112"/>
          <a:stretch/>
        </p:blipFill>
        <p:spPr>
          <a:xfrm>
            <a:off x="3200400" y="1078992"/>
            <a:ext cx="3200400" cy="242316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8" name="Shape 3"/>
          <p:cNvSpPr/>
          <p:nvPr/>
        </p:nvSpPr>
        <p:spPr>
          <a:xfrm>
            <a:off x="6537960" y="1078992"/>
            <a:ext cx="1645920" cy="2926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4"/>
          <p:cNvSpPr/>
          <p:nvPr/>
        </p:nvSpPr>
        <p:spPr>
          <a:xfrm>
            <a:off x="6537960" y="10789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Maps Conv1</a:t>
            </a:r>
            <a:endParaRPr lang="en-US" sz="10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-125" r="-125"/>
          <a:stretch/>
        </p:blipFill>
        <p:spPr>
          <a:xfrm>
            <a:off x="6537960" y="1417320"/>
            <a:ext cx="2377440" cy="20116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657600"/>
          <a:ext cx="6035040" cy="10515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Modèle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MLP baseline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couche, 128 neurones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96.95 %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CNN 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blocs Conv + FC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99.43 %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Gain CNN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+2.48 pts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6531092"/>
              </p:ext>
            </p:extLst>
          </p:nvPr>
        </p:nvGraphicFramePr>
        <p:xfrm>
          <a:off x="6400800" y="3591900"/>
          <a:ext cx="2743200" cy="1493520"/>
        </p:xfrm>
        <a:graphic>
          <a:graphicData uri="http://schemas.openxmlformats.org/drawingml/2006/table">
            <a:tbl>
              <a:tblPr/>
              <a:tblGrid>
                <a:gridCol w="1506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7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98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Couche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Motif détecté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8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Bords simples, contours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734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Formes géométriques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7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Parties de chiffres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— Influence des hyperparamètres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Padding · Stride · Pooling · Profondeur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73152"/>
            <a:ext cx="1325880" cy="54864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l="-96" r="-96"/>
          <a:stretch/>
        </p:blipFill>
        <p:spPr>
          <a:xfrm>
            <a:off x="274320" y="1078992"/>
            <a:ext cx="3931920" cy="21129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3438306"/>
              </p:ext>
            </p:extLst>
          </p:nvPr>
        </p:nvGraphicFramePr>
        <p:xfrm>
          <a:off x="274320" y="3264408"/>
          <a:ext cx="4892040" cy="18440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Configuration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 (%)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vs baseline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57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(pad=1, stride=1, MaxPool, 32/64/128)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79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Sans padding (pad=0)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79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Stride =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79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AvgPool à la place de MaxPool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79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Plus de filtres (64/128/256) 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3"/>
          <p:cNvSpPr/>
          <p:nvPr/>
        </p:nvSpPr>
        <p:spPr>
          <a:xfrm>
            <a:off x="5349240" y="1078992"/>
            <a:ext cx="896112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4"/>
          <p:cNvSpPr/>
          <p:nvPr/>
        </p:nvSpPr>
        <p:spPr>
          <a:xfrm>
            <a:off x="5349240" y="1115568"/>
            <a:ext cx="896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349240" y="1554480"/>
            <a:ext cx="896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Préserve les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dimensions spatiales</a:t>
            </a:r>
            <a:endParaRPr lang="en-US" sz="900" dirty="0"/>
          </a:p>
        </p:txBody>
      </p:sp>
      <p:sp>
        <p:nvSpPr>
          <p:cNvPr id="11" name="Shape 6"/>
          <p:cNvSpPr/>
          <p:nvPr/>
        </p:nvSpPr>
        <p:spPr>
          <a:xfrm>
            <a:off x="6327648" y="1078992"/>
            <a:ext cx="896112" cy="13716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7"/>
          <p:cNvSpPr/>
          <p:nvPr/>
        </p:nvSpPr>
        <p:spPr>
          <a:xfrm>
            <a:off x="6327648" y="1115568"/>
            <a:ext cx="896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Stride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6327648" y="1554480"/>
            <a:ext cx="896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 le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sous-échantillonnage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7306056" y="1078992"/>
            <a:ext cx="896112" cy="137160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15" name="Text 10"/>
          <p:cNvSpPr/>
          <p:nvPr/>
        </p:nvSpPr>
        <p:spPr>
          <a:xfrm>
            <a:off x="7306056" y="1115568"/>
            <a:ext cx="896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MaxPool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7306056" y="1554480"/>
            <a:ext cx="896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Robustesse aux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translations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8284464" y="1078992"/>
            <a:ext cx="896112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3"/>
          <p:cNvSpPr/>
          <p:nvPr/>
        </p:nvSpPr>
        <p:spPr>
          <a:xfrm>
            <a:off x="8284464" y="1115568"/>
            <a:ext cx="896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Profondeur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8284464" y="1554480"/>
            <a:ext cx="896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Richesse des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représentations</a:t>
            </a:r>
            <a:endParaRPr lang="en-US" sz="900" dirty="0"/>
          </a:p>
        </p:txBody>
      </p:sp>
      <p:graphicFrame>
        <p:nvGraphicFramePr>
          <p:cNvPr id="2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2546643"/>
              </p:ext>
            </p:extLst>
          </p:nvPr>
        </p:nvGraphicFramePr>
        <p:xfrm>
          <a:off x="5349240" y="2606040"/>
          <a:ext cx="3794761" cy="1386840"/>
        </p:xfrm>
        <a:graphic>
          <a:graphicData uri="http://schemas.openxmlformats.org/drawingml/2006/table">
            <a:tbl>
              <a:tblPr/>
              <a:tblGrid>
                <a:gridCol w="1774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56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49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Critère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MLP baseline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CNN optimisé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96.95 %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99.43 %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Paramètres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422 474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Avantage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Structure spatiale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III — Seq2Seq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Traduction automatique EN → DE avec mécanisme d'attention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73152"/>
            <a:ext cx="1325880" cy="548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1078992"/>
            <a:ext cx="1645920" cy="2926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4"/>
          <p:cNvSpPr/>
          <p:nvPr/>
        </p:nvSpPr>
        <p:spPr>
          <a:xfrm>
            <a:off x="274320" y="10789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028506"/>
              </p:ext>
            </p:extLst>
          </p:nvPr>
        </p:nvGraphicFramePr>
        <p:xfrm>
          <a:off x="274320" y="1421892"/>
          <a:ext cx="3200400" cy="14173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Caractéristique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Valeur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Paires de phrases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Vocabulaire 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 mots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Vocabulaire DE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 mots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Longueur max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tokens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3749040" y="1078992"/>
            <a:ext cx="1645920" cy="2926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6"/>
          <p:cNvSpPr/>
          <p:nvPr/>
        </p:nvSpPr>
        <p:spPr>
          <a:xfrm>
            <a:off x="3749040" y="10789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8" name="Shape 7"/>
          <p:cNvSpPr/>
          <p:nvPr/>
        </p:nvSpPr>
        <p:spPr>
          <a:xfrm>
            <a:off x="3749040" y="1444752"/>
            <a:ext cx="1645920" cy="100584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12" name="Text 8"/>
          <p:cNvSpPr/>
          <p:nvPr/>
        </p:nvSpPr>
        <p:spPr>
          <a:xfrm>
            <a:off x="3749040" y="1444752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Encodeur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 bidir.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couches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394960" y="1947672"/>
            <a:ext cx="2743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760720" y="1444752"/>
            <a:ext cx="1645920" cy="10058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1"/>
          <p:cNvSpPr/>
          <p:nvPr/>
        </p:nvSpPr>
        <p:spPr>
          <a:xfrm>
            <a:off x="5760720" y="1444752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Bahdanau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softmax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406640" y="1947672"/>
            <a:ext cx="2743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498080" y="1444752"/>
            <a:ext cx="1645920" cy="10058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4"/>
          <p:cNvSpPr/>
          <p:nvPr/>
        </p:nvSpPr>
        <p:spPr>
          <a:xfrm>
            <a:off x="7498080" y="1444752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Décodeur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 + ctxt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couches</a:t>
            </a:r>
            <a:endParaRPr lang="en-US" sz="10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 l="-29125" r="-29125"/>
          <a:stretch/>
        </p:blipFill>
        <p:spPr>
          <a:xfrm>
            <a:off x="303107" y="2889504"/>
            <a:ext cx="8595360" cy="22402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Seq2Seq — Résultats &amp; Stratégies de décodage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époques · Teacher forcing 0.5 · Paramètres : 854 315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73152"/>
            <a:ext cx="1325880" cy="54864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l="-25" r="-25"/>
          <a:stretch/>
        </p:blipFill>
        <p:spPr>
          <a:xfrm>
            <a:off x="274320" y="1078992"/>
            <a:ext cx="3840480" cy="158191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3840480" cy="124968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Stratégie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Précision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 Search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 le plus probable à chaque pas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 (15/20)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Beam Search k=3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 3 hypothèses en parallèle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 (15/20)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Shape 3"/>
          <p:cNvSpPr/>
          <p:nvPr/>
        </p:nvSpPr>
        <p:spPr>
          <a:xfrm>
            <a:off x="4343400" y="1078992"/>
            <a:ext cx="1645920" cy="2926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Text 4"/>
          <p:cNvSpPr/>
          <p:nvPr/>
        </p:nvSpPr>
        <p:spPr>
          <a:xfrm>
            <a:off x="4343400" y="10789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Exemples de traduction</a:t>
            </a:r>
            <a:endParaRPr lang="en-US" sz="10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444752"/>
          <a:ext cx="4572000" cy="155448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(entrée)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cible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Prédiction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morning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guten morgen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guten morgen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night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gute nacht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gute nacht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are you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wie geht es dir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wie geht es dir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am fine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 geht mir gut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 geht mir gut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thank you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danke schön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danke schön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4343400" y="3063240"/>
            <a:ext cx="1645920" cy="2926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6"/>
          <p:cNvSpPr/>
          <p:nvPr/>
        </p:nvSpPr>
        <p:spPr>
          <a:xfrm>
            <a:off x="4343400" y="30632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RNN vs LSTM vs GRU</a:t>
            </a:r>
            <a:endParaRPr lang="en-US" sz="10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3429000"/>
          <a:ext cx="4572000" cy="11811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Modèle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Mémoire longue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 Loss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RNN simple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Aucune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LSTM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portes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 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portes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Shape 7"/>
          <p:cNvSpPr/>
          <p:nvPr/>
        </p:nvSpPr>
        <p:spPr>
          <a:xfrm>
            <a:off x="274320" y="3749040"/>
            <a:ext cx="3840480" cy="65836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5" name="Text 8"/>
          <p:cNvSpPr/>
          <p:nvPr/>
        </p:nvSpPr>
        <p:spPr>
          <a:xfrm>
            <a:off x="365760" y="374904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 = bon compromis 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Mémoire longue + Convergence rapide + Moins de paramètres que LSTM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Comparaison RNN · LSTM · GRU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Courbes de perte et résultats de traduction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73152"/>
            <a:ext cx="1325880" cy="54864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l="-8" r="-8"/>
          <a:stretch/>
        </p:blipFill>
        <p:spPr>
          <a:xfrm>
            <a:off x="274320" y="1078992"/>
            <a:ext cx="8595360" cy="2959608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557486"/>
              </p:ext>
            </p:extLst>
          </p:nvPr>
        </p:nvGraphicFramePr>
        <p:xfrm>
          <a:off x="274320" y="4056888"/>
          <a:ext cx="8595360" cy="10134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Critère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LSTM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 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État interne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(h)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(h + cellule c)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(h)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Aucune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(entrée, oubli, sortie)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(reset, update)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Vitesse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Rapide 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Lent 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Intermédiaire ⚖️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synthétiques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Comparaison des trois architectures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73152"/>
            <a:ext cx="1325880" cy="548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1051560"/>
            <a:ext cx="2697480" cy="1005840"/>
          </a:xfrm>
          <a:prstGeom prst="rect">
            <a:avLst/>
          </a:prstGeom>
          <a:solidFill>
            <a:srgbClr val="1A2E5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274320" y="1097280"/>
            <a:ext cx="269748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98.84%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274320" y="1604772"/>
            <a:ext cx="2697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— Breast Cancer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0" y="1051560"/>
            <a:ext cx="2697480" cy="1005840"/>
          </a:xfrm>
          <a:prstGeom prst="rect">
            <a:avLst/>
          </a:prstGeom>
          <a:solidFill>
            <a:srgbClr val="2563EB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200400" y="1097280"/>
            <a:ext cx="269748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99.43%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3200400" y="1604772"/>
            <a:ext cx="2697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— MNIST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0" y="1051560"/>
            <a:ext cx="2697480" cy="1005840"/>
          </a:xfrm>
          <a:prstGeom prst="rect">
            <a:avLst/>
          </a:prstGeom>
          <a:solidFill>
            <a:srgbClr val="7C3AED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126480" y="1097280"/>
            <a:ext cx="269748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6126480" y="1604772"/>
            <a:ext cx="2697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Seq2Seq — EN→DE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212848"/>
          <a:ext cx="8595360" cy="1234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Dataset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Tâche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Performance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Breast Cancer (569 éch.)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 binaire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98.84 %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14 818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MNIST (70 000 img.)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 10 classes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99.43 %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422 474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Seq2Seq GRU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Corpus EN→DE (80 paires)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Traduction automatique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 (15/20)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854 315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6" name="Chart 0"/>
          <p:cNvGraphicFramePr/>
          <p:nvPr/>
        </p:nvGraphicFramePr>
        <p:xfrm>
          <a:off x="274320" y="3584448"/>
          <a:ext cx="5029200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Shape 12"/>
          <p:cNvSpPr/>
          <p:nvPr/>
        </p:nvSpPr>
        <p:spPr>
          <a:xfrm>
            <a:off x="5577840" y="3584448"/>
            <a:ext cx="3291840" cy="138988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8" name="Text 13"/>
          <p:cNvSpPr/>
          <p:nvPr/>
        </p:nvSpPr>
        <p:spPr>
          <a:xfrm>
            <a:off x="5669280" y="3584448"/>
            <a:ext cx="3108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architecture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A2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 optimale pour 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A2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de ses données.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&amp; Perspectives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73152"/>
            <a:ext cx="132588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1078992"/>
            <a:ext cx="1645920" cy="292608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6" name="Text 3"/>
          <p:cNvSpPr/>
          <p:nvPr/>
        </p:nvSpPr>
        <p:spPr>
          <a:xfrm>
            <a:off x="274320" y="10789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nous avons réalisé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" y="1463040"/>
            <a:ext cx="228600" cy="228600"/>
          </a:xfrm>
          <a:prstGeom prst="line">
            <a:avLst/>
          </a:prstGeom>
          <a:solidFill>
            <a:srgbClr val="1A2E5A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417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Exploration et préparation de 3 datasets réels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" y="1965960"/>
            <a:ext cx="228600" cy="228600"/>
          </a:xfrm>
          <a:prstGeom prst="line">
            <a:avLst/>
          </a:prstGeom>
          <a:solidFill>
            <a:srgbClr val="1A2E5A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9202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Implémentation de MLP, CNN, Seq2Seq avec PyTorch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0040" y="2468880"/>
            <a:ext cx="228600" cy="228600"/>
          </a:xfrm>
          <a:prstGeom prst="line">
            <a:avLst/>
          </a:prstGeom>
          <a:solidFill>
            <a:srgbClr val="1A2E5A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423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Entraînement avec BatchNorm, Dropout, Adam, ReduceLROnPlateau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0040" y="2971800"/>
            <a:ext cx="228600" cy="228600"/>
          </a:xfrm>
          <a:prstGeom prst="line">
            <a:avLst/>
          </a:prstGeom>
          <a:solidFill>
            <a:srgbClr val="1A2E5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926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Évaluation rigoureuse : accuracy, F1, matrices de confusion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20040" y="3474720"/>
            <a:ext cx="228600" cy="228600"/>
          </a:xfrm>
          <a:prstGeom prst="line">
            <a:avLst/>
          </a:prstGeom>
          <a:solidFill>
            <a:srgbClr val="1A2E5A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34290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Visualisation des cartes de caractéristiques (CNN)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0040" y="3977640"/>
            <a:ext cx="228600" cy="228600"/>
          </a:xfrm>
          <a:prstGeom prst="line">
            <a:avLst/>
          </a:prstGeom>
          <a:solidFill>
            <a:srgbClr val="1A2E5A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39319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Comparaison RNN / LSTM / GRU / Greedy / Beam Search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846320" y="1078992"/>
            <a:ext cx="1645920" cy="2926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0" name="Text 17"/>
          <p:cNvSpPr/>
          <p:nvPr/>
        </p:nvSpPr>
        <p:spPr>
          <a:xfrm>
            <a:off x="4846320" y="10789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Perspectives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846320" y="146304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983480" y="1645920"/>
            <a:ext cx="594360" cy="594360"/>
          </a:xfrm>
          <a:prstGeom prst="line">
            <a:avLst/>
          </a:prstGeom>
          <a:solidFill>
            <a:srgbClr val="7C3AED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1682496"/>
            <a:ext cx="457200" cy="45720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669280" y="155448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Transformers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5669280" y="19202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Attention-only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la traduction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846320" y="265176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4983480" y="2834640"/>
            <a:ext cx="594360" cy="594360"/>
          </a:xfrm>
          <a:prstGeom prst="line">
            <a:avLst/>
          </a:prstGeom>
          <a:solidFill>
            <a:srgbClr val="2563EB"/>
          </a:solidFill>
          <a:ln/>
        </p:spPr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2871216"/>
            <a:ext cx="457200" cy="45720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669280" y="274320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Learning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5669280" y="310896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ResNet, EfficientNet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la vision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846320" y="384048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4983480" y="4023360"/>
            <a:ext cx="594360" cy="594360"/>
          </a:xfrm>
          <a:prstGeom prst="line">
            <a:avLst/>
          </a:prstGeom>
          <a:solidFill>
            <a:srgbClr val="0891B2"/>
          </a:solidFill>
          <a:ln/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7488" y="4059936"/>
            <a:ext cx="457200" cy="45720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5669280" y="393192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Datasets plus larges</a:t>
            </a:r>
            <a:endParaRPr lang="en-US" sz="1200" dirty="0"/>
          </a:p>
        </p:txBody>
      </p:sp>
      <p:sp>
        <p:nvSpPr>
          <p:cNvPr id="35" name="Text 29"/>
          <p:cNvSpPr/>
          <p:nvPr/>
        </p:nvSpPr>
        <p:spPr>
          <a:xfrm>
            <a:off x="5669280" y="42976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Valider la scalabilité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modèles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E5A">
            <a:alpha val="27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274320"/>
            <a:ext cx="1645920" cy="6949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1143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pour votre attention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2743200" y="2377440"/>
            <a:ext cx="365760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2"/>
          <p:cNvSpPr/>
          <p:nvPr/>
        </p:nvSpPr>
        <p:spPr>
          <a:xfrm>
            <a:off x="914400" y="2514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?</a:t>
            </a:r>
            <a:endParaRPr lang="en-US" sz="2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1371600" y="3337560"/>
            <a:ext cx="2011680" cy="8686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4"/>
          <p:cNvSpPr/>
          <p:nvPr/>
        </p:nvSpPr>
        <p:spPr>
          <a:xfrm>
            <a:off x="1371600" y="3337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98.84%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657600" y="3337560"/>
            <a:ext cx="2011680" cy="8686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7"/>
          <p:cNvSpPr/>
          <p:nvPr/>
        </p:nvSpPr>
        <p:spPr>
          <a:xfrm>
            <a:off x="3657600" y="3337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99.43%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365760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943600" y="3337560"/>
            <a:ext cx="2011680" cy="8686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0" y="3337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94360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Seq2Seq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JOUICHAT Khadija  ·  Mme. HIDILA Zineb  ·  IIAD 2025–2026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1366</Words>
  <Application>Microsoft Office PowerPoint</Application>
  <PresentationFormat>Affichage à l'écran (16:9)</PresentationFormat>
  <Paragraphs>407</Paragraphs>
  <Slides>15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— MLP, CNN, Seq2Seq</dc:title>
  <dc:subject>PptxGenJS Presentation</dc:subject>
  <dc:creator>JOUICHAT Khadija</dc:creator>
  <cp:lastModifiedBy>Khadija Jouichat</cp:lastModifiedBy>
  <cp:revision>4</cp:revision>
  <dcterms:created xsi:type="dcterms:W3CDTF">2026-06-22T21:14:29Z</dcterms:created>
  <dcterms:modified xsi:type="dcterms:W3CDTF">2026-06-22T22:44:53Z</dcterms:modified>
</cp:coreProperties>
</file>